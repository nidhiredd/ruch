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82" d="100"/>
          <a:sy n="82" d="100"/>
        </p:scale>
        <p:origin x="710"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5" Type="http://schemas.openxmlformats.org/officeDocument/2006/relationships/slide" Target="slides/slide4.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3685592" y="1950098"/>
            <a:ext cx="7623110" cy="1200329"/>
          </a:xfrm>
          <a:prstGeom prst="rect">
            <a:avLst/>
          </a:prstGeom>
          <a:noFill/>
        </p:spPr>
        <p:txBody>
          <a:bodyPr wrap="square" rtlCol="0">
            <a:spAutoFit/>
          </a:bodyPr>
          <a:lstStyle/>
          <a:p>
            <a:pPr algn="r"/>
            <a:r>
              <a:rPr lang="en-US" sz="3600" b="1" dirty="0">
                <a:solidFill>
                  <a:schemeClr val="bg1"/>
                </a:solidFill>
                <a:latin typeface="Calibri" panose="020F0502020204030204" pitchFamily="34" charset="0"/>
                <a:cs typeface="Times New Roman" panose="02020603050405020304" pitchFamily="18" charset="0"/>
              </a:rPr>
              <a:t>Analyzing Agricultural Productivity Across Indian States.</a:t>
            </a:r>
            <a:endParaRPr lang="en-US" sz="3600" b="1" dirty="0">
              <a:solidFill>
                <a:schemeClr val="bg1"/>
              </a:solidFill>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6"/>
            <a:ext cx="6808329" cy="4370427"/>
          </a:xfrm>
          <a:prstGeom prst="rect">
            <a:avLst/>
          </a:prstGeom>
          <a:noFill/>
        </p:spPr>
        <p:txBody>
          <a:bodyPr wrap="square">
            <a:spAutoFit/>
          </a:bodyPr>
          <a:lstStyle/>
          <a:p>
            <a:r>
              <a:rPr lang="en-IN" sz="2000" b="1" dirty="0">
                <a:solidFill>
                  <a:srgbClr val="213163"/>
                </a:solidFill>
              </a:rPr>
              <a:t>Learning Objectives:</a:t>
            </a:r>
          </a:p>
          <a:p>
            <a:endParaRPr lang="en-IN" sz="2000" b="1" dirty="0">
              <a:solidFill>
                <a:srgbClr val="213163"/>
              </a:solidFill>
            </a:endParaRPr>
          </a:p>
          <a:p>
            <a:endParaRPr lang="en-IN" sz="2000" b="1" dirty="0">
              <a:solidFill>
                <a:srgbClr val="213163"/>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Understand how to use Power BI for data analysis and            visualization in agriculture.</a:t>
            </a:r>
          </a:p>
          <a:p>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Explore key metrics influencing agricultural productivity in Indian       states.</a:t>
            </a:r>
          </a:p>
          <a:p>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Learn to derive insights from agricultural datasets to support policy-making and planning.</a:t>
            </a:r>
          </a:p>
          <a:p>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Demonstrate practical application of business intelligence tools in the </a:t>
            </a:r>
            <a:r>
              <a:rPr lang="en-US" sz="1800" dirty="0" err="1">
                <a:latin typeface="Calibri" panose="020F0502020204030204" pitchFamily="34" charset="0"/>
                <a:ea typeface="Calibri" panose="020F0502020204030204" pitchFamily="34" charset="0"/>
                <a:cs typeface="Calibri" panose="020F0502020204030204" pitchFamily="34" charset="0"/>
              </a:rPr>
              <a:t>agri</a:t>
            </a:r>
            <a:r>
              <a:rPr lang="en-US" sz="1800" dirty="0">
                <a:latin typeface="Calibri" panose="020F0502020204030204" pitchFamily="34" charset="0"/>
                <a:ea typeface="Calibri" panose="020F0502020204030204" pitchFamily="34" charset="0"/>
                <a:cs typeface="Calibri" panose="020F0502020204030204" pitchFamily="34" charset="0"/>
              </a:rPr>
              <a:t>-sector.</a:t>
            </a:r>
          </a:p>
          <a:p>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 </a:t>
            </a: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2">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8709586" cy="3816429"/>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a:p>
            <a:endParaRPr lang="en-IN" sz="2000" b="1" dirty="0">
              <a:solidFill>
                <a:srgbClr val="213163"/>
              </a:solidFill>
            </a:endParaRPr>
          </a:p>
          <a:p>
            <a:endParaRPr lang="en-IN" sz="2000" b="1" dirty="0">
              <a:solidFill>
                <a:srgbClr val="213163"/>
              </a:solidFill>
            </a:endParaRPr>
          </a:p>
          <a:p>
            <a:pPr>
              <a:buFont typeface="Arial" panose="020B0604020202020204" pitchFamily="34" charset="0"/>
              <a:buChar char="•"/>
            </a:pPr>
            <a:r>
              <a:rPr lang="en-IN" sz="1800" b="1" dirty="0">
                <a:latin typeface="Calibri" panose="020F0502020204030204" pitchFamily="34" charset="0"/>
                <a:ea typeface="Calibri" panose="020F0502020204030204" pitchFamily="34" charset="0"/>
                <a:cs typeface="Calibri" panose="020F0502020204030204" pitchFamily="34" charset="0"/>
              </a:rPr>
              <a:t>Power BI</a:t>
            </a:r>
            <a:r>
              <a:rPr lang="en-IN" sz="1800" dirty="0">
                <a:latin typeface="Calibri" panose="020F0502020204030204" pitchFamily="34" charset="0"/>
                <a:ea typeface="Calibri" panose="020F0502020204030204" pitchFamily="34" charset="0"/>
                <a:cs typeface="Calibri" panose="020F0502020204030204" pitchFamily="34" charset="0"/>
              </a:rPr>
              <a:t> – for data visualization and dashboard creation.</a:t>
            </a:r>
          </a:p>
          <a:p>
            <a:endParaRPr lang="en-IN" sz="18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IN" sz="1800" b="1" dirty="0">
                <a:latin typeface="Calibri" panose="020F0502020204030204" pitchFamily="34" charset="0"/>
                <a:ea typeface="Calibri" panose="020F0502020204030204" pitchFamily="34" charset="0"/>
                <a:cs typeface="Calibri" panose="020F0502020204030204" pitchFamily="34" charset="0"/>
              </a:rPr>
              <a:t>Microsoft Excel / CSV files</a:t>
            </a:r>
            <a:r>
              <a:rPr lang="en-IN" sz="1800" dirty="0">
                <a:latin typeface="Calibri" panose="020F0502020204030204" pitchFamily="34" charset="0"/>
                <a:ea typeface="Calibri" panose="020F0502020204030204" pitchFamily="34" charset="0"/>
                <a:cs typeface="Calibri" panose="020F0502020204030204" pitchFamily="34" charset="0"/>
              </a:rPr>
              <a:t> – as a source for agricultural datasets.</a:t>
            </a:r>
          </a:p>
          <a:p>
            <a:endParaRPr lang="en-IN" sz="18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IN" sz="1800" b="1" dirty="0">
                <a:latin typeface="Calibri" panose="020F0502020204030204" pitchFamily="34" charset="0"/>
                <a:ea typeface="Calibri" panose="020F0502020204030204" pitchFamily="34" charset="0"/>
                <a:cs typeface="Calibri" panose="020F0502020204030204" pitchFamily="34" charset="0"/>
              </a:rPr>
              <a:t>DAX (Data Analysis Expressions)</a:t>
            </a:r>
            <a:r>
              <a:rPr lang="en-IN" sz="1800" dirty="0">
                <a:latin typeface="Calibri" panose="020F0502020204030204" pitchFamily="34" charset="0"/>
                <a:ea typeface="Calibri" panose="020F0502020204030204" pitchFamily="34" charset="0"/>
                <a:cs typeface="Calibri" panose="020F0502020204030204" pitchFamily="34" charset="0"/>
              </a:rPr>
              <a:t> – for calculated metrics and custom aggregations.</a:t>
            </a:r>
          </a:p>
          <a:p>
            <a:endParaRPr lang="en-IN" sz="18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IN" sz="1800" b="1" dirty="0">
                <a:latin typeface="Calibri" panose="020F0502020204030204" pitchFamily="34" charset="0"/>
                <a:ea typeface="Calibri" panose="020F0502020204030204" pitchFamily="34" charset="0"/>
                <a:cs typeface="Calibri" panose="020F0502020204030204" pitchFamily="34" charset="0"/>
              </a:rPr>
              <a:t>Power Query</a:t>
            </a:r>
            <a:r>
              <a:rPr lang="en-IN" sz="1800" dirty="0">
                <a:latin typeface="Calibri" panose="020F0502020204030204" pitchFamily="34" charset="0"/>
                <a:ea typeface="Calibri" panose="020F0502020204030204" pitchFamily="34" charset="0"/>
                <a:cs typeface="Calibri" panose="020F0502020204030204" pitchFamily="34" charset="0"/>
              </a:rPr>
              <a:t> – for data cleaning and transformation.</a:t>
            </a:r>
          </a:p>
          <a:p>
            <a:endParaRPr lang="en-IN" sz="18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IN" sz="1800" b="1" dirty="0">
                <a:latin typeface="Calibri" panose="020F0502020204030204" pitchFamily="34" charset="0"/>
                <a:ea typeface="Calibri" panose="020F0502020204030204" pitchFamily="34" charset="0"/>
                <a:cs typeface="Calibri" panose="020F0502020204030204" pitchFamily="34" charset="0"/>
              </a:rPr>
              <a:t>Government/FAO/State Agri Dept Data Portals</a:t>
            </a:r>
            <a:r>
              <a:rPr lang="en-IN" sz="1800" dirty="0">
                <a:latin typeface="Calibri" panose="020F0502020204030204" pitchFamily="34" charset="0"/>
                <a:ea typeface="Calibri" panose="020F0502020204030204" pitchFamily="34" charset="0"/>
                <a:cs typeface="Calibri" panose="020F0502020204030204" pitchFamily="34" charset="0"/>
              </a:rPr>
              <a:t> – as data sources.</a:t>
            </a:r>
          </a:p>
          <a:p>
            <a:endParaRPr lang="en-IN" sz="2000" b="1" dirty="0">
              <a:solidFill>
                <a:srgbClr val="213163"/>
              </a:solidFill>
            </a:endParaRP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5" y="1014656"/>
            <a:ext cx="10751098" cy="3447098"/>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p>
          <a:p>
            <a:endParaRPr lang="en-US" sz="1800" b="1" dirty="0">
              <a:solidFill>
                <a:srgbClr val="213163"/>
              </a:solidFill>
            </a:endParaRPr>
          </a:p>
          <a:p>
            <a:endParaRPr lang="en-US" sz="1800" b="1" dirty="0">
              <a:solidFill>
                <a:srgbClr val="213163"/>
              </a:solidFill>
              <a:latin typeface="Calibri" panose="020F0502020204030204" pitchFamily="34" charset="0"/>
              <a:ea typeface="Calibri" panose="020F0502020204030204" pitchFamily="34" charset="0"/>
              <a:cs typeface="Calibri" panose="020F0502020204030204" pitchFamily="34" charset="0"/>
            </a:endParaRPr>
          </a:p>
          <a:p>
            <a:pPr>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Data Collection</a:t>
            </a:r>
            <a:r>
              <a:rPr lang="en-US" sz="1800" dirty="0">
                <a:latin typeface="Calibri" panose="020F0502020204030204" pitchFamily="34" charset="0"/>
                <a:ea typeface="Calibri" panose="020F0502020204030204" pitchFamily="34" charset="0"/>
                <a:cs typeface="Calibri" panose="020F0502020204030204" pitchFamily="34" charset="0"/>
              </a:rPr>
              <a:t>: Gather agricultural data (crop yield, area sown, productivity, rainfall, etc.) from authentic sources.</a:t>
            </a:r>
          </a:p>
          <a:p>
            <a:pPr>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Data Cleaning &amp; Transformation</a:t>
            </a:r>
            <a:r>
              <a:rPr lang="en-US" sz="1800" dirty="0">
                <a:latin typeface="Calibri" panose="020F0502020204030204" pitchFamily="34" charset="0"/>
                <a:ea typeface="Calibri" panose="020F0502020204030204" pitchFamily="34" charset="0"/>
                <a:cs typeface="Calibri" panose="020F0502020204030204" pitchFamily="34" charset="0"/>
              </a:rPr>
              <a:t>: Use Power Query to handle missing values, standardize units, and ensure consistency.</a:t>
            </a:r>
          </a:p>
          <a:p>
            <a:pPr>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Data Modeling</a:t>
            </a:r>
            <a:r>
              <a:rPr lang="en-US" sz="1800" dirty="0">
                <a:latin typeface="Calibri" panose="020F0502020204030204" pitchFamily="34" charset="0"/>
                <a:ea typeface="Calibri" panose="020F0502020204030204" pitchFamily="34" charset="0"/>
                <a:cs typeface="Calibri" panose="020F0502020204030204" pitchFamily="34" charset="0"/>
              </a:rPr>
              <a:t>: Establish relationships between tables and define calculated fields using DAX.</a:t>
            </a:r>
          </a:p>
          <a:p>
            <a:pPr>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Visualization</a:t>
            </a:r>
            <a:r>
              <a:rPr lang="en-US" sz="1800" dirty="0">
                <a:latin typeface="Calibri" panose="020F0502020204030204" pitchFamily="34" charset="0"/>
                <a:ea typeface="Calibri" panose="020F0502020204030204" pitchFamily="34" charset="0"/>
                <a:cs typeface="Calibri" panose="020F0502020204030204" pitchFamily="34" charset="0"/>
              </a:rPr>
              <a:t>: Create dashboards showing productivity trends, comparisons across states, and crop-wise performance.</a:t>
            </a:r>
          </a:p>
          <a:p>
            <a:pPr>
              <a:buFont typeface="+mj-lt"/>
              <a:buAutoNum type="arabicPeriod"/>
            </a:pPr>
            <a:r>
              <a:rPr lang="en-US" sz="1800" b="1" dirty="0">
                <a:latin typeface="Calibri" panose="020F0502020204030204" pitchFamily="34" charset="0"/>
                <a:ea typeface="Calibri" panose="020F0502020204030204" pitchFamily="34" charset="0"/>
                <a:cs typeface="Calibri" panose="020F0502020204030204" pitchFamily="34" charset="0"/>
              </a:rPr>
              <a:t>Analysis</a:t>
            </a:r>
            <a:r>
              <a:rPr lang="en-US" sz="1800" dirty="0">
                <a:latin typeface="Calibri" panose="020F0502020204030204" pitchFamily="34" charset="0"/>
                <a:ea typeface="Calibri" panose="020F0502020204030204" pitchFamily="34" charset="0"/>
                <a:cs typeface="Calibri" panose="020F0502020204030204" pitchFamily="34" charset="0"/>
              </a:rPr>
              <a:t>: Use filters, slicers, and drill-downs to uncover patterns and disparities in productivity.</a:t>
            </a:r>
          </a:p>
          <a:p>
            <a:endParaRPr lang="en-IN" sz="1800" dirty="0">
              <a:solidFill>
                <a:srgbClr val="213163"/>
              </a:solidFill>
            </a:endParaRP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656319" y="1231693"/>
            <a:ext cx="9532710" cy="2092881"/>
          </a:xfrm>
          <a:prstGeom prst="rect">
            <a:avLst/>
          </a:prstGeom>
          <a:noFill/>
        </p:spPr>
        <p:txBody>
          <a:bodyPr wrap="square">
            <a:spAutoFit/>
          </a:bodyPr>
          <a:lstStyle/>
          <a:p>
            <a:r>
              <a:rPr lang="en-US" sz="2000" b="1" dirty="0">
                <a:solidFill>
                  <a:srgbClr val="213163"/>
                </a:solidFill>
              </a:rPr>
              <a:t>Problem Statement: </a:t>
            </a:r>
          </a:p>
          <a:p>
            <a:endParaRPr lang="en-US" sz="2000" b="1" dirty="0">
              <a:solidFill>
                <a:srgbClr val="213163"/>
              </a:solidFill>
            </a:endParaRPr>
          </a:p>
          <a:p>
            <a:endParaRPr lang="en-US" sz="1800" b="1" dirty="0">
              <a:solidFill>
                <a:srgbClr val="213163"/>
              </a:solidFill>
              <a:latin typeface="Calibri" panose="020F0502020204030204" pitchFamily="34" charset="0"/>
              <a:ea typeface="Calibri" panose="020F0502020204030204" pitchFamily="34" charset="0"/>
              <a:cs typeface="Calibri" panose="020F0502020204030204" pitchFamily="34" charset="0"/>
            </a:endParaRPr>
          </a:p>
          <a:p>
            <a:r>
              <a:rPr lang="en-US" sz="1800" b="1" dirty="0">
                <a:solidFill>
                  <a:srgbClr val="213163"/>
                </a:solidFill>
                <a:latin typeface="Calibri" panose="020F0502020204030204" pitchFamily="34" charset="0"/>
                <a:ea typeface="Calibri" panose="020F0502020204030204" pitchFamily="34" charset="0"/>
                <a:cs typeface="Calibri" panose="020F0502020204030204" pitchFamily="34" charset="0"/>
              </a:rPr>
              <a:t> </a:t>
            </a:r>
          </a:p>
          <a:p>
            <a:r>
              <a:rPr lang="en-US" sz="1800" dirty="0">
                <a:latin typeface="Calibri" panose="020F0502020204030204" pitchFamily="34" charset="0"/>
                <a:ea typeface="Calibri" panose="020F0502020204030204" pitchFamily="34" charset="0"/>
                <a:cs typeface="Calibri" panose="020F0502020204030204" pitchFamily="34" charset="0"/>
              </a:rPr>
              <a:t>Despite India's extensive agricultural activities, there is a lack of dynamic and accessible analytical tools to compare and understand agricultural productivity across states, hindering effective policy formulation and resource allocation.</a:t>
            </a:r>
            <a:endParaRPr lang="en-IN" sz="1800" b="1" dirty="0">
              <a:solidFill>
                <a:srgbClr val="213163"/>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3" y="1054412"/>
            <a:ext cx="11426823" cy="3847207"/>
          </a:xfrm>
          <a:prstGeom prst="rect">
            <a:avLst/>
          </a:prstGeom>
          <a:noFill/>
        </p:spPr>
        <p:txBody>
          <a:bodyPr wrap="square">
            <a:spAutoFit/>
          </a:bodyPr>
          <a:lstStyle/>
          <a:p>
            <a:r>
              <a:rPr lang="en-US" sz="2000" b="1" dirty="0">
                <a:solidFill>
                  <a:srgbClr val="213163"/>
                </a:solidFill>
              </a:rPr>
              <a:t>Solution: </a:t>
            </a:r>
          </a:p>
          <a:p>
            <a:endParaRPr lang="en-US" sz="2000" b="1" dirty="0">
              <a:solidFill>
                <a:srgbClr val="213163"/>
              </a:solidFill>
            </a:endParaRPr>
          </a:p>
          <a:p>
            <a:endParaRPr lang="en-US" sz="2000" b="1" dirty="0">
              <a:solidFill>
                <a:srgbClr val="213163"/>
              </a:solidFill>
            </a:endParaRPr>
          </a:p>
          <a:p>
            <a:pPr>
              <a:buNone/>
            </a:pPr>
            <a:r>
              <a:rPr lang="en-US" sz="2000" b="1" dirty="0">
                <a:solidFill>
                  <a:srgbClr val="213163"/>
                </a:solidFill>
              </a:rPr>
              <a:t> </a:t>
            </a:r>
            <a:r>
              <a:rPr lang="en-US" sz="1800" dirty="0">
                <a:latin typeface="Calibri" panose="020F0502020204030204" pitchFamily="34" charset="0"/>
                <a:ea typeface="Calibri" panose="020F0502020204030204" pitchFamily="34" charset="0"/>
                <a:cs typeface="Calibri" panose="020F0502020204030204" pitchFamily="34" charset="0"/>
              </a:rPr>
              <a:t>Leverage </a:t>
            </a:r>
            <a:r>
              <a:rPr lang="en-US" sz="1800" b="1" dirty="0">
                <a:latin typeface="Calibri" panose="020F0502020204030204" pitchFamily="34" charset="0"/>
                <a:ea typeface="Calibri" panose="020F0502020204030204" pitchFamily="34" charset="0"/>
                <a:cs typeface="Calibri" panose="020F0502020204030204" pitchFamily="34" charset="0"/>
              </a:rPr>
              <a:t>Power BI</a:t>
            </a:r>
            <a:r>
              <a:rPr lang="en-US" sz="1800" dirty="0">
                <a:latin typeface="Calibri" panose="020F0502020204030204" pitchFamily="34" charset="0"/>
                <a:ea typeface="Calibri" panose="020F0502020204030204" pitchFamily="34" charset="0"/>
                <a:cs typeface="Calibri" panose="020F0502020204030204" pitchFamily="34" charset="0"/>
              </a:rPr>
              <a:t> to:</a:t>
            </a:r>
          </a:p>
          <a:p>
            <a:pPr>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Visualize state-wise agricultural productivity in an interactive format.</a:t>
            </a:r>
          </a:p>
          <a:p>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Compare multiple dimensions like crop type, irrigation, rainfall, and yield.</a:t>
            </a:r>
          </a:p>
          <a:p>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Enable stakeholders (government, researchers, farmers) to make informed decisions through data-driven insights.</a:t>
            </a:r>
          </a:p>
          <a:p>
            <a:endParaRPr lang="en-US" sz="18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1800" dirty="0">
                <a:latin typeface="Calibri" panose="020F0502020204030204" pitchFamily="34" charset="0"/>
                <a:ea typeface="Calibri" panose="020F0502020204030204" pitchFamily="34" charset="0"/>
                <a:cs typeface="Calibri" panose="020F0502020204030204" pitchFamily="34" charset="0"/>
              </a:rPr>
              <a:t>Provide a scalable, real-time dashboard that can be updated with new data over time.</a:t>
            </a:r>
          </a:p>
          <a:p>
            <a:endParaRPr lang="en-IN" sz="2000" b="1" dirty="0">
              <a:solidFill>
                <a:srgbClr val="213163"/>
              </a:solidFill>
            </a:endParaRP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1323439"/>
          </a:xfrm>
          <a:prstGeom prst="rect">
            <a:avLst/>
          </a:prstGeom>
          <a:noFill/>
        </p:spPr>
        <p:txBody>
          <a:bodyPr wrap="square">
            <a:spAutoFit/>
          </a:bodyPr>
          <a:lstStyle/>
          <a:p>
            <a:r>
              <a:rPr lang="en-US" sz="2000" b="1" dirty="0">
                <a:solidFill>
                  <a:srgbClr val="213163"/>
                </a:solidFill>
              </a:rPr>
              <a:t>Screenshot of Output: </a:t>
            </a:r>
          </a:p>
          <a:p>
            <a:endParaRPr lang="en-US" sz="2000" b="1" dirty="0">
              <a:solidFill>
                <a:srgbClr val="213163"/>
              </a:solidFill>
            </a:endParaRPr>
          </a:p>
          <a:p>
            <a:endParaRPr lang="en-US" sz="2000" b="1" dirty="0">
              <a:solidFill>
                <a:srgbClr val="213163"/>
              </a:solidFill>
            </a:endParaRPr>
          </a:p>
          <a:p>
            <a:r>
              <a:rPr lang="en-US" sz="2000" b="1" dirty="0">
                <a:solidFill>
                  <a:srgbClr val="213163"/>
                </a:solidFill>
              </a:rPr>
              <a:t> </a:t>
            </a:r>
            <a:endParaRPr lang="en-IN" sz="2000" b="1" dirty="0">
              <a:solidFill>
                <a:srgbClr val="213163"/>
              </a:solidFill>
            </a:endParaRPr>
          </a:p>
        </p:txBody>
      </p:sp>
      <p:pic>
        <p:nvPicPr>
          <p:cNvPr id="4" name="Picture 3">
            <a:extLst>
              <a:ext uri="{FF2B5EF4-FFF2-40B4-BE49-F238E27FC236}">
                <a16:creationId xmlns:a16="http://schemas.microsoft.com/office/drawing/2014/main" id="{96521652-B359-A029-39AC-EA5F9272C76E}"/>
              </a:ext>
            </a:extLst>
          </p:cNvPr>
          <p:cNvPicPr>
            <a:picLocks noChangeAspect="1"/>
          </p:cNvPicPr>
          <p:nvPr/>
        </p:nvPicPr>
        <p:blipFill>
          <a:blip r:embed="rId2"/>
          <a:stretch>
            <a:fillRect/>
          </a:stretch>
        </p:blipFill>
        <p:spPr>
          <a:xfrm>
            <a:off x="513183" y="2377851"/>
            <a:ext cx="4516017" cy="2996582"/>
          </a:xfrm>
          <a:prstGeom prst="rect">
            <a:avLst/>
          </a:prstGeom>
        </p:spPr>
      </p:pic>
      <p:pic>
        <p:nvPicPr>
          <p:cNvPr id="6" name="Picture 5">
            <a:extLst>
              <a:ext uri="{FF2B5EF4-FFF2-40B4-BE49-F238E27FC236}">
                <a16:creationId xmlns:a16="http://schemas.microsoft.com/office/drawing/2014/main" id="{5D53B005-8BF8-1D97-2E4A-A1A95B17C154}"/>
              </a:ext>
            </a:extLst>
          </p:cNvPr>
          <p:cNvPicPr>
            <a:picLocks noChangeAspect="1"/>
          </p:cNvPicPr>
          <p:nvPr/>
        </p:nvPicPr>
        <p:blipFill>
          <a:blip r:embed="rId3"/>
          <a:stretch>
            <a:fillRect/>
          </a:stretch>
        </p:blipFill>
        <p:spPr>
          <a:xfrm>
            <a:off x="5728996" y="1054412"/>
            <a:ext cx="4593652" cy="2653714"/>
          </a:xfrm>
          <a:prstGeom prst="rect">
            <a:avLst/>
          </a:prstGeom>
        </p:spPr>
      </p:pic>
      <p:pic>
        <p:nvPicPr>
          <p:cNvPr id="8" name="Picture 7">
            <a:extLst>
              <a:ext uri="{FF2B5EF4-FFF2-40B4-BE49-F238E27FC236}">
                <a16:creationId xmlns:a16="http://schemas.microsoft.com/office/drawing/2014/main" id="{0CBD5BA9-B372-CD00-BC6F-F8381FA675F5}"/>
              </a:ext>
            </a:extLst>
          </p:cNvPr>
          <p:cNvPicPr>
            <a:picLocks noChangeAspect="1"/>
          </p:cNvPicPr>
          <p:nvPr/>
        </p:nvPicPr>
        <p:blipFill>
          <a:blip r:embed="rId4"/>
          <a:stretch>
            <a:fillRect/>
          </a:stretch>
        </p:blipFill>
        <p:spPr>
          <a:xfrm>
            <a:off x="5728996" y="4047575"/>
            <a:ext cx="4593652" cy="2653715"/>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1508105"/>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p>
          <a:p>
            <a:endParaRPr lang="en-US" sz="1800" b="1" dirty="0">
              <a:solidFill>
                <a:srgbClr val="213163"/>
              </a:solidFill>
            </a:endParaRPr>
          </a:p>
          <a:p>
            <a:endParaRPr lang="en-US" sz="1800" b="1" dirty="0">
              <a:solidFill>
                <a:srgbClr val="213163"/>
              </a:solidFill>
            </a:endParaRPr>
          </a:p>
          <a:p>
            <a:endParaRPr lang="en-US" sz="1800" b="1" dirty="0">
              <a:solidFill>
                <a:srgbClr val="213163"/>
              </a:solidFill>
            </a:endParaRPr>
          </a:p>
          <a:p>
            <a:endParaRPr lang="en-IN" sz="1800" dirty="0">
              <a:solidFill>
                <a:srgbClr val="213163"/>
              </a:solidFill>
            </a:endParaRPr>
          </a:p>
        </p:txBody>
      </p:sp>
      <p:sp>
        <p:nvSpPr>
          <p:cNvPr id="2" name="Rectangle 1">
            <a:extLst>
              <a:ext uri="{FF2B5EF4-FFF2-40B4-BE49-F238E27FC236}">
                <a16:creationId xmlns:a16="http://schemas.microsoft.com/office/drawing/2014/main" id="{6F62483A-2915-6477-1FD9-D3A6A240B9AA}"/>
              </a:ext>
            </a:extLst>
          </p:cNvPr>
          <p:cNvSpPr>
            <a:spLocks noChangeArrowheads="1"/>
          </p:cNvSpPr>
          <p:nvPr/>
        </p:nvSpPr>
        <p:spPr bwMode="auto">
          <a:xfrm>
            <a:off x="149087" y="951311"/>
            <a:ext cx="1080505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endParaRPr lang="en-US" altLang="en-US"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R="0" lvl="0" algn="l" defTabSz="914400" rtl="0" eaLnBrk="0" fontAlgn="base" latinLnBrk="0" hangingPunct="0">
              <a:lnSpc>
                <a:spcPct val="100000"/>
              </a:lnSpc>
              <a:spcBef>
                <a:spcPct val="0"/>
              </a:spcBef>
              <a:spcAft>
                <a:spcPct val="0"/>
              </a:spcAft>
              <a:buClrTx/>
              <a:buSzTx/>
              <a:tabLst/>
            </a:pPr>
            <a:r>
              <a:rPr lang="en-US" sz="1800" dirty="0">
                <a:latin typeface="Calibri" panose="020F0502020204030204" pitchFamily="34" charset="0"/>
                <a:ea typeface="Calibri" panose="020F0502020204030204" pitchFamily="34" charset="0"/>
                <a:cs typeface="Calibri" panose="020F0502020204030204" pitchFamily="34" charset="0"/>
              </a:rPr>
              <a:t>Power BI proves to be a powerful tool for analyzing complex agricultural data, enabling users to transform raw information into meaningful insights. Its interactive visualizations simplify the process of identifying high and low-performing states, making regional comparisons more intuitive and impactful. This level of analysis is crucial for guiding agricultural reforms, optimizing resource allocation, and implementing targeted interventions where they are most needed. Ultimately, this approach fosters a data-centric agricultural ecosystem, which is essential for promoting sustainable development and ensuring long-term food security.</a:t>
            </a:r>
            <a:endParaRPr kumimoji="0" lang="en-US" altLang="en-US" sz="18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57</TotalTime>
  <Words>419</Words>
  <Application>Microsoft Office PowerPoint</Application>
  <PresentationFormat>Widescreen</PresentationFormat>
  <Paragraphs>62</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thanujanuka@gmail.com</cp:lastModifiedBy>
  <cp:revision>5</cp:revision>
  <dcterms:created xsi:type="dcterms:W3CDTF">2024-12-31T09:40:01Z</dcterms:created>
  <dcterms:modified xsi:type="dcterms:W3CDTF">2025-05-17T13:43:25Z</dcterms:modified>
</cp:coreProperties>
</file>